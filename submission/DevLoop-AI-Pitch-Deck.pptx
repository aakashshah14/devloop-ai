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4ba8572f534f64" /><Relationship Type="http://schemas.openxmlformats.org/officeDocument/2006/relationships/extended-properties" Target="/docProps/app.xml" Id="R8cdafae261dd4465" /><Relationship Type="http://schemas.openxmlformats.org/officeDocument/2006/relationships/officeDocument" Target="/ppt/presentation.xml" Id="R3f04196ef64348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a08c193a0645c4"/>
  </p:sldMasterIdLst>
  <p:notesMasterIdLst>
    <p:notesMasterId xmlns:r="http://schemas.openxmlformats.org/officeDocument/2006/relationships" r:id="Rd058fad019024a5f"/>
  </p:notesMasterIdLst>
  <p:sldIdLst>
    <p:sldId xmlns:r="http://schemas.openxmlformats.org/officeDocument/2006/relationships" id="256" r:id="R5d93b1fd07424528"/>
    <p:sldId xmlns:r="http://schemas.openxmlformats.org/officeDocument/2006/relationships" id="257" r:id="R6f1999f126d341ad"/>
    <p:sldId xmlns:r="http://schemas.openxmlformats.org/officeDocument/2006/relationships" id="258" r:id="R93b04911a59a453d"/>
    <p:sldId xmlns:r="http://schemas.openxmlformats.org/officeDocument/2006/relationships" id="259" r:id="R6cbdec565aee47a9"/>
    <p:sldId xmlns:r="http://schemas.openxmlformats.org/officeDocument/2006/relationships" id="260" r:id="Rb6dd02c39c2b43b7"/>
    <p:sldId xmlns:r="http://schemas.openxmlformats.org/officeDocument/2006/relationships" id="261" r:id="R159d600a3078456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6e272a2259440a" /><Relationship Type="http://schemas.openxmlformats.org/officeDocument/2006/relationships/slideMaster" Target="/ppt/slideMasters/slideMaster1.xml" Id="Rd0a08c193a0645c4" /><Relationship Type="http://schemas.openxmlformats.org/officeDocument/2006/relationships/notesMaster" Target="/ppt/notesMasters/notesMaster1.xml" Id="Rd058fad019024a5f" /><Relationship Type="http://schemas.openxmlformats.org/officeDocument/2006/relationships/presProps" Target="/ppt/presProps.xml" Id="R7b265009e7b1403e" /><Relationship Type="http://schemas.openxmlformats.org/officeDocument/2006/relationships/tableStyles" Target="/ppt/tableStyles.xml" Id="Rd8f8f6d280184b0e" /><Relationship Type="http://schemas.openxmlformats.org/officeDocument/2006/relationships/slide" Target="/ppt/slides/slide1.xml" Id="R5d93b1fd07424528" /><Relationship Type="http://schemas.openxmlformats.org/officeDocument/2006/relationships/slide" Target="/ppt/slides/slide2.xml" Id="R6f1999f126d341ad" /><Relationship Type="http://schemas.openxmlformats.org/officeDocument/2006/relationships/slide" Target="/ppt/slides/slide3.xml" Id="R93b04911a59a453d" /><Relationship Type="http://schemas.openxmlformats.org/officeDocument/2006/relationships/slide" Target="/ppt/slides/slide4.xml" Id="R6cbdec565aee47a9" /><Relationship Type="http://schemas.openxmlformats.org/officeDocument/2006/relationships/slide" Target="/ppt/slides/slide5.xml" Id="Rb6dd02c39c2b43b7" /><Relationship Type="http://schemas.openxmlformats.org/officeDocument/2006/relationships/slide" Target="/ppt/slides/slide6.xml" Id="R159d600a307845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9cbafa29ab49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dfa1964f0a4463" /><Relationship Type="http://schemas.openxmlformats.org/officeDocument/2006/relationships/notesMaster" Target="/ppt/notesMasters/notesMaster1.xml" Id="R84f1ff34914d476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193e20487ae4316" /><Relationship Type="http://schemas.openxmlformats.org/officeDocument/2006/relationships/notesMaster" Target="/ppt/notesMasters/notesMaster1.xml" Id="Rc788829e5f434e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227b68e1f46486c" /><Relationship Type="http://schemas.openxmlformats.org/officeDocument/2006/relationships/notesMaster" Target="/ppt/notesMasters/notesMaster1.xml" Id="Rafb889eb73a54b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da315cc1b974c28" /><Relationship Type="http://schemas.openxmlformats.org/officeDocument/2006/relationships/notesMaster" Target="/ppt/notesMasters/notesMaster1.xml" Id="R96da4b734c1048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00709922e74ec2" /><Relationship Type="http://schemas.openxmlformats.org/officeDocument/2006/relationships/notesMaster" Target="/ppt/notesMasters/notesMaster1.xml" Id="R4e177343f90e478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174f968c924cf2" /><Relationship Type="http://schemas.openxmlformats.org/officeDocument/2006/relationships/notesMaster" Target="/ppt/notesMasters/notesMaster1.xml" Id="R920dbf536d524f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95627014ce44d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9acdf4946c4bc9" /><Relationship Type="http://schemas.openxmlformats.org/officeDocument/2006/relationships/slideLayout" Target="/ppt/slideLayouts/slideLayout1.xml" Id="R89488606814442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488606814442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0113f4dd2a4324" /><Relationship Type="http://schemas.openxmlformats.org/officeDocument/2006/relationships/image" Target="/ppt/media/image.png" Id="R4f5bb2134dd247e7" /><Relationship Type="http://schemas.openxmlformats.org/officeDocument/2006/relationships/notesSlide" Target="/ppt/notesSlides/notesSlide1.xml" Id="R4c8f34a9da504e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1c15d6d7644cb0" /><Relationship Type="http://schemas.openxmlformats.org/officeDocument/2006/relationships/image" Target="/ppt/media/image2.png" Id="Re4e4e3babd594d13" /><Relationship Type="http://schemas.openxmlformats.org/officeDocument/2006/relationships/notesSlide" Target="/ppt/notesSlides/notesSlide2.xml" Id="Raab00e58551048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c114c31dde4329" /><Relationship Type="http://schemas.openxmlformats.org/officeDocument/2006/relationships/notesSlide" Target="/ppt/notesSlides/notesSlide3.xml" Id="R9b1dcb8a976141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0199ec24274acd" /><Relationship Type="http://schemas.openxmlformats.org/officeDocument/2006/relationships/image" Target="/ppt/media/image3.png" Id="Redf816492e524fbc" /><Relationship Type="http://schemas.openxmlformats.org/officeDocument/2006/relationships/notesSlide" Target="/ppt/notesSlides/notesSlide4.xml" Id="Re035f53a31074b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eac1ab99d64ba0" /><Relationship Type="http://schemas.openxmlformats.org/officeDocument/2006/relationships/notesSlide" Target="/ppt/notesSlides/notesSlide5.xml" Id="Re21cd4292af24c8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44d4b3f9594619" /><Relationship Type="http://schemas.openxmlformats.org/officeDocument/2006/relationships/image" Target="/ppt/media/image4.png" Id="Rb5fa734c5e3a4d93" /><Relationship Type="http://schemas.openxmlformats.org/officeDocument/2006/relationships/notesSlide" Target="/ppt/notesSlides/notesSlide6.xml" Id="Rac0b1b5c7ac045c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B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cover-accent"/>
          <p:cNvCxnSpPr/>
          <p:nvPr/>
        </p:nvCxnSpPr>
        <p:spPr>
          <a:xfrm xmlns:a="http://schemas.openxmlformats.org/drawingml/2006/main">
            <a:off x="685800" y="76200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59E4F6"/>
            </a:solidFill>
            <a:prstDash val="solid"/>
          </a:ln>
        </p:spPr>
      </p:cxnSp>
      <p:sp>
        <p:nvSpPr>
          <p:cNvPr id="2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2A6E4E27-8817-4EB7-92D1-37A1EF0D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9E4F6"/>
                </a:solidFill>
              </a:defRPr>
            </a:pPr>
            <a:r>
              <a:rPr sz="1200" b="1">
                <a:solidFill>
                  <a:srgbClr val="59E4F6"/>
                </a:solidFill>
              </a:rPr>
              <a:t>NAMASTEDEV · OPENAI CODEX HACKATHON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B0192B7-69C5-4377-B470-96ED6587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685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600" b="1">
                <a:solidFill>
                  <a:srgbClr val="EEF4FF"/>
                </a:solidFill>
              </a:defRPr>
            </a:pPr>
            <a:r>
              <a:rPr sz="6600" b="1">
                <a:solidFill>
                  <a:srgbClr val="EEF4FF"/>
                </a:solidFill>
              </a:rPr>
              <a:t>DevLoop AI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90761CC-DD51-4F31-A9EF-D37BB977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685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9B8AFB"/>
                </a:solidFill>
              </a:defRPr>
            </a:pPr>
            <a:r>
              <a:rPr sz="3900" b="1">
                <a:solidFill>
                  <a:srgbClr val="9B8AFB"/>
                </a:solidFill>
              </a:rPr>
              <a:t>The first answer is</a:t>
            </a:r>
          </a:p>
          <a:p xmlns:a="http://schemas.openxmlformats.org/drawingml/2006/main">
            <a:pPr algn="l">
              <a:defRPr sz="3900" b="1">
                <a:solidFill>
                  <a:srgbClr val="9B8AFB"/>
                </a:solidFill>
              </a:defRPr>
            </a:pPr>
            <a:r>
              <a:rPr sz="3900" b="1">
                <a:solidFill>
                  <a:srgbClr val="9B8AFB"/>
                </a:solidFill>
              </a:rPr>
              <a:t>just the beginning.</a:t>
            </a:r>
          </a:p>
        </p:txBody>
      </p:sp>
      <p:sp>
        <p:nvSpPr>
          <p:cNvPr id="5" name="cover-body">
            <a:extLst xmlns:a="http://schemas.openxmlformats.org/drawingml/2006/main">
              <a:ext uri="{FF2B5EF4-FFF2-40B4-BE49-F238E27FC236}">
                <a16:creationId xmlns:a16="http://schemas.microsoft.com/office/drawing/2014/main" id="{9BB2B101-4D5B-454E-A0CD-CCE5C1AF3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57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6B3CC"/>
                </a:solidFill>
              </a:defRPr>
            </a:pPr>
            <a:r>
              <a:rPr sz="1800" b="0">
                <a:solidFill>
                  <a:srgbClr val="A6B3CC"/>
                </a:solidFill>
              </a:rPr>
              <a:t>A visible engineering loop that plans, generates, reviews, scores, and improves AI-created code.</a:t>
            </a:r>
          </a:p>
        </p:txBody>
      </p:sp>
      <p:sp>
        <p:nvSpPr>
          <p:cNvPr id="6" name="logo-field">
            <a:extLst xmlns:a="http://schemas.openxmlformats.org/drawingml/2006/main">
              <a:ext uri="{FF2B5EF4-FFF2-40B4-BE49-F238E27FC236}">
                <a16:creationId xmlns:a16="http://schemas.microsoft.com/office/drawing/2014/main" id="{ACF98157-9011-4441-9B60-44ABE92DF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524000"/>
            <a:ext cx="247650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D1930"/>
          </a:solidFill>
          <a:ln xmlns:a="http://schemas.openxmlformats.org/drawingml/2006/main" w="9525">
            <a:solidFill>
              <a:srgbClr val="233653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5bb2134dd247e7"/>
          <a:stretch xmlns:a="http://schemas.openxmlformats.org/drawingml/2006/main"/>
        </p:blipFill>
        <p:spPr>
          <a:xfrm xmlns:a="http://schemas.openxmlformats.org/drawingml/2006/main">
            <a:off x="8715375" y="1905000"/>
            <a:ext cx="1714500" cy="1714500"/>
          </a:xfrm>
          <a:prstGeom xmlns:a="http://schemas.openxmlformats.org/drawingml/2006/main" prst="rect">
            <a:avLst/>
          </a:prstGeom>
        </p:spPr>
      </p:pic>
      <p:sp>
        <p:nvSpPr>
          <p:cNvPr id="8" name="cover-builder">
            <a:extLst xmlns:a="http://schemas.openxmlformats.org/drawingml/2006/main">
              <a:ext uri="{FF2B5EF4-FFF2-40B4-BE49-F238E27FC236}">
                <a16:creationId xmlns:a16="http://schemas.microsoft.com/office/drawing/2014/main" id="{696628F9-9174-4BEF-9CC0-9844E7AC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B3CC"/>
                </a:solidFill>
              </a:defRPr>
            </a:pPr>
            <a:r>
              <a:rPr sz="1350" b="0">
                <a:solidFill>
                  <a:srgbClr val="A6B3CC"/>
                </a:solidFill>
              </a:rPr>
              <a:t>Built by Aakash Shah</a:t>
            </a:r>
          </a:p>
        </p:txBody>
      </p:sp>
    </p:spTree>
    <p:extLst>
      <p:ext uri="{BB962C8B-B14F-4D97-AF65-F5344CB8AC3E}">
        <p14:creationId xmlns:p14="http://schemas.microsoft.com/office/powerpoint/2010/main" val="3331720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0B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-2">
            <a:extLst xmlns:a="http://schemas.openxmlformats.org/drawingml/2006/main">
              <a:ext uri="{FF2B5EF4-FFF2-40B4-BE49-F238E27FC236}">
                <a16:creationId xmlns:a16="http://schemas.microsoft.com/office/drawing/2014/main" id="{557572A5-F09D-47AC-B9BE-7BB29219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9E4F6"/>
                </a:solidFill>
              </a:defRPr>
            </a:pPr>
            <a:r>
              <a:rPr sz="1200" b="1">
                <a:solidFill>
                  <a:srgbClr val="59E4F6"/>
                </a:solidFill>
              </a:rPr>
              <a:t>THE PROBLEM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274E2472-32D5-45F9-AA2F-EE1DDA6D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EEF4FF"/>
                </a:solidFill>
              </a:defRPr>
            </a:pPr>
            <a:r>
              <a:rPr sz="3600" b="1">
                <a:solidFill>
                  <a:srgbClr val="EEF4FF"/>
                </a:solidFill>
              </a:rPr>
              <a:t>AI code can look finished before it is engineered.</a:t>
            </a:r>
          </a:p>
        </p:txBody>
      </p:sp>
      <p:cxnSp>
        <p:nvCxnSpPr>
          <p:cNvPr id="21" name="header-rule-2"/>
          <p:cNvCxnSpPr/>
          <p:nvPr/>
        </p:nvCxnSpPr>
        <p:spPr>
          <a:xfrm xmlns:a="http://schemas.openxmlformats.org/drawingml/2006/main">
            <a:off x="685800" y="1676400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33653"/>
            </a:solidFill>
            <a:prstDash val="solid"/>
          </a:ln>
        </p:spPr>
      </p:cxn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9A12657A-E80C-4C29-98E9-ECD61150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6B3CC"/>
                </a:solidFill>
              </a:defRPr>
            </a:pPr>
            <a:r>
              <a:rPr sz="1050" b="0">
                <a:solidFill>
                  <a:srgbClr val="A6B3CC"/>
                </a:solidFill>
              </a:rPr>
              <a:t>02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e4e3babd594d13"/>
          <a:srcRect xmlns:a="http://schemas.openxmlformats.org/drawingml/2006/main" l="7557" t="0" r="75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2057400"/>
            <a:ext cx="4743450" cy="314325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6" name="risk-num-0">
            <a:extLst xmlns:a="http://schemas.openxmlformats.org/drawingml/2006/main">
              <a:ext uri="{FF2B5EF4-FFF2-40B4-BE49-F238E27FC236}">
                <a16:creationId xmlns:a16="http://schemas.microsoft.com/office/drawing/2014/main" id="{671BDFAF-B468-49DD-8512-3F4BEC0D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9E4F6"/>
                </a:solidFill>
              </a:defRPr>
            </a:pPr>
            <a:r>
              <a:rPr sz="1350" b="1">
                <a:solidFill>
                  <a:srgbClr val="59E4F6"/>
                </a:solidFill>
              </a:rPr>
              <a:t>01</a:t>
            </a:r>
          </a:p>
        </p:txBody>
      </p:sp>
      <p:sp>
        <p:nvSpPr>
          <p:cNvPr id="7" name="risk-label-0">
            <a:extLst xmlns:a="http://schemas.openxmlformats.org/drawingml/2006/main">
              <a:ext uri="{FF2B5EF4-FFF2-40B4-BE49-F238E27FC236}">
                <a16:creationId xmlns:a16="http://schemas.microsoft.com/office/drawing/2014/main" id="{D1D2E67E-291B-48A1-BEF8-CE235887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0025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EF4FF"/>
                </a:solidFill>
              </a:defRPr>
            </a:pPr>
            <a:r>
              <a:rPr sz="1875" b="1">
                <a:solidFill>
                  <a:srgbClr val="EEF4FF"/>
                </a:solidFill>
              </a:rPr>
              <a:t>Missed requirements</a:t>
            </a:r>
          </a:p>
        </p:txBody>
      </p:sp>
      <p:sp>
        <p:nvSpPr>
          <p:cNvPr id="8" name="risk-body-0">
            <a:extLst xmlns:a="http://schemas.openxmlformats.org/drawingml/2006/main">
              <a:ext uri="{FF2B5EF4-FFF2-40B4-BE49-F238E27FC236}">
                <a16:creationId xmlns:a16="http://schemas.microsoft.com/office/drawing/2014/main" id="{AB2C89A7-EAFC-4B2D-971A-D38CBB2B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431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6B3CC"/>
                </a:solidFill>
              </a:defRPr>
            </a:pPr>
            <a:r>
              <a:rPr sz="1275" b="0">
                <a:solidFill>
                  <a:srgbClr val="A6B3CC"/>
                </a:solidFill>
              </a:rPr>
              <a:t>A polished answer can quietly omit the behavior that matters.</a:t>
            </a:r>
          </a:p>
        </p:txBody>
      </p:sp>
      <p:sp>
        <p:nvSpPr>
          <p:cNvPr id="9" name="risk-num-1">
            <a:extLst xmlns:a="http://schemas.openxmlformats.org/drawingml/2006/main">
              <a:ext uri="{FF2B5EF4-FFF2-40B4-BE49-F238E27FC236}">
                <a16:creationId xmlns:a16="http://schemas.microsoft.com/office/drawing/2014/main" id="{F3F46577-C230-41A3-B6D1-70432A5A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9E4F6"/>
                </a:solidFill>
              </a:defRPr>
            </a:pPr>
            <a:r>
              <a:rPr sz="1350" b="1">
                <a:solidFill>
                  <a:srgbClr val="59E4F6"/>
                </a:solidFill>
              </a:rPr>
              <a:t>02</a:t>
            </a:r>
          </a:p>
        </p:txBody>
      </p:sp>
      <p:sp>
        <p:nvSpPr>
          <p:cNvPr id="10" name="risk-label-1">
            <a:extLst xmlns:a="http://schemas.openxmlformats.org/drawingml/2006/main">
              <a:ext uri="{FF2B5EF4-FFF2-40B4-BE49-F238E27FC236}">
                <a16:creationId xmlns:a16="http://schemas.microsoft.com/office/drawing/2014/main" id="{E5B6505A-AC83-4F71-B90D-D6D7F523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1465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EF4FF"/>
                </a:solidFill>
              </a:defRPr>
            </a:pPr>
            <a:r>
              <a:rPr sz="1875" b="1">
                <a:solidFill>
                  <a:srgbClr val="EEF4FF"/>
                </a:solidFill>
              </a:rPr>
              <a:t>Fragile error paths</a:t>
            </a:r>
          </a:p>
        </p:txBody>
      </p:sp>
      <p:sp>
        <p:nvSpPr>
          <p:cNvPr id="11" name="risk-body-1">
            <a:extLst xmlns:a="http://schemas.openxmlformats.org/drawingml/2006/main">
              <a:ext uri="{FF2B5EF4-FFF2-40B4-BE49-F238E27FC236}">
                <a16:creationId xmlns:a16="http://schemas.microsoft.com/office/drawing/2014/main" id="{ACE487EA-E0D8-4C9C-9810-DFADFCE2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575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6B3CC"/>
                </a:solidFill>
              </a:defRPr>
            </a:pPr>
            <a:r>
              <a:rPr sz="1275" b="0">
                <a:solidFill>
                  <a:srgbClr val="A6B3CC"/>
                </a:solidFill>
              </a:rPr>
              <a:t>Happy-path code hides loading, retry, and failure-state gaps.</a:t>
            </a:r>
          </a:p>
        </p:txBody>
      </p:sp>
      <p:sp>
        <p:nvSpPr>
          <p:cNvPr id="12" name="risk-num-2">
            <a:extLst xmlns:a="http://schemas.openxmlformats.org/drawingml/2006/main">
              <a:ext uri="{FF2B5EF4-FFF2-40B4-BE49-F238E27FC236}">
                <a16:creationId xmlns:a16="http://schemas.microsoft.com/office/drawing/2014/main" id="{5EE429D3-687D-483D-B5C5-64420949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9E4F6"/>
                </a:solidFill>
              </a:defRPr>
            </a:pPr>
            <a:r>
              <a:rPr sz="1350" b="1">
                <a:solidFill>
                  <a:srgbClr val="59E4F6"/>
                </a:solidFill>
              </a:rPr>
              <a:t>03</a:t>
            </a:r>
          </a:p>
        </p:txBody>
      </p:sp>
      <p:sp>
        <p:nvSpPr>
          <p:cNvPr id="13" name="risk-label-2">
            <a:extLst xmlns:a="http://schemas.openxmlformats.org/drawingml/2006/main">
              <a:ext uri="{FF2B5EF4-FFF2-40B4-BE49-F238E27FC236}">
                <a16:creationId xmlns:a16="http://schemas.microsoft.com/office/drawing/2014/main" id="{8460F2EF-7DC1-4593-8970-E5A3F470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2905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EF4FF"/>
                </a:solidFill>
              </a:defRPr>
            </a:pPr>
            <a:r>
              <a:rPr sz="1875" b="1">
                <a:solidFill>
                  <a:srgbClr val="EEF4FF"/>
                </a:solidFill>
              </a:rPr>
              <a:t>Weak accessibility</a:t>
            </a:r>
          </a:p>
        </p:txBody>
      </p:sp>
      <p:sp>
        <p:nvSpPr>
          <p:cNvPr id="14" name="risk-body-2">
            <a:extLst xmlns:a="http://schemas.openxmlformats.org/drawingml/2006/main">
              <a:ext uri="{FF2B5EF4-FFF2-40B4-BE49-F238E27FC236}">
                <a16:creationId xmlns:a16="http://schemas.microsoft.com/office/drawing/2014/main" id="{27962144-D173-4D56-B1FC-4A0457B65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71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6B3CC"/>
                </a:solidFill>
              </a:defRPr>
            </a:pPr>
            <a:r>
              <a:rPr sz="1275" b="0">
                <a:solidFill>
                  <a:srgbClr val="A6B3CC"/>
                </a:solidFill>
              </a:rPr>
              <a:t>Labels, focus states, and keyboard flows are easy to miss.</a:t>
            </a:r>
          </a:p>
        </p:txBody>
      </p:sp>
      <p:sp>
        <p:nvSpPr>
          <p:cNvPr id="15" name="risk-num-3">
            <a:extLst xmlns:a="http://schemas.openxmlformats.org/drawingml/2006/main">
              <a:ext uri="{FF2B5EF4-FFF2-40B4-BE49-F238E27FC236}">
                <a16:creationId xmlns:a16="http://schemas.microsoft.com/office/drawing/2014/main" id="{679BECDD-F94F-432C-B3C6-EBD5BE57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9E4F6"/>
                </a:solidFill>
              </a:defRPr>
            </a:pPr>
            <a:r>
              <a:rPr sz="1350" b="1">
                <a:solidFill>
                  <a:srgbClr val="59E4F6"/>
                </a:solidFill>
              </a:rPr>
              <a:t>04</a:t>
            </a:r>
          </a:p>
        </p:txBody>
      </p:sp>
      <p:sp>
        <p:nvSpPr>
          <p:cNvPr id="16" name="risk-label-3">
            <a:extLst xmlns:a="http://schemas.openxmlformats.org/drawingml/2006/main">
              <a:ext uri="{FF2B5EF4-FFF2-40B4-BE49-F238E27FC236}">
                <a16:creationId xmlns:a16="http://schemas.microsoft.com/office/drawing/2014/main" id="{CC9A846B-142F-45B2-B201-35D6100B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4345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EF4FF"/>
                </a:solidFill>
              </a:defRPr>
            </a:pPr>
            <a:r>
              <a:rPr sz="1875" b="1">
                <a:solidFill>
                  <a:srgbClr val="EEF4FF"/>
                </a:solidFill>
              </a:rPr>
              <a:t>Hidden maintenance cost</a:t>
            </a:r>
          </a:p>
        </p:txBody>
      </p:sp>
      <p:sp>
        <p:nvSpPr>
          <p:cNvPr id="17" name="risk-body-3">
            <a:extLst xmlns:a="http://schemas.openxmlformats.org/drawingml/2006/main">
              <a:ext uri="{FF2B5EF4-FFF2-40B4-BE49-F238E27FC236}">
                <a16:creationId xmlns:a16="http://schemas.microsoft.com/office/drawing/2014/main" id="{749A325E-5828-47C8-841F-72ADD31A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86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6B3CC"/>
                </a:solidFill>
              </a:defRPr>
            </a:pPr>
            <a:r>
              <a:rPr sz="1275" b="0">
                <a:solidFill>
                  <a:srgbClr val="A6B3CC"/>
                </a:solidFill>
              </a:rPr>
              <a:t>One response rarely explains what changed or why.</a:t>
            </a:r>
          </a:p>
        </p:txBody>
      </p:sp>
      <p:sp>
        <p:nvSpPr>
          <p:cNvPr id="18" name="problem-takeaway">
            <a:extLst xmlns:a="http://schemas.openxmlformats.org/drawingml/2006/main">
              <a:ext uri="{FF2B5EF4-FFF2-40B4-BE49-F238E27FC236}">
                <a16:creationId xmlns:a16="http://schemas.microsoft.com/office/drawing/2014/main" id="{1F63393C-BBE8-4E76-9250-042E174B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448300"/>
            <a:ext cx="4743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C857"/>
                </a:solidFill>
              </a:defRPr>
            </a:pPr>
            <a:r>
              <a:rPr sz="1800" b="1">
                <a:solidFill>
                  <a:srgbClr val="FFC857"/>
                </a:solidFill>
              </a:rPr>
              <a:t>The risk is not generation. It is stopping too early.</a:t>
            </a:r>
          </a:p>
        </p:txBody>
      </p:sp>
    </p:spTree>
    <p:extLst>
      <p:ext uri="{BB962C8B-B14F-4D97-AF65-F5344CB8AC3E}">
        <p14:creationId xmlns:p14="http://schemas.microsoft.com/office/powerpoint/2010/main" val="4496780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B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eyebrow-3">
            <a:extLst xmlns:a="http://schemas.openxmlformats.org/drawingml/2006/main">
              <a:ext uri="{FF2B5EF4-FFF2-40B4-BE49-F238E27FC236}">
                <a16:creationId xmlns:a16="http://schemas.microsoft.com/office/drawing/2014/main" id="{B48B29D3-039B-484F-A1FB-B0132DF7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9E4F6"/>
                </a:solidFill>
              </a:defRPr>
            </a:pPr>
            <a:r>
              <a:rPr sz="1200" b="1">
                <a:solidFill>
                  <a:srgbClr val="59E4F6"/>
                </a:solidFill>
              </a:rPr>
              <a:t>THE SOLUTION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271CD891-1B69-4CFE-9F1E-1860C534B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EEF4FF"/>
                </a:solidFill>
              </a:defRPr>
            </a:pPr>
            <a:r>
              <a:rPr sz="3600" b="1">
                <a:solidFill>
                  <a:srgbClr val="EEF4FF"/>
                </a:solidFill>
              </a:rPr>
              <a:t>DevLoop makes improvement visible.</a:t>
            </a:r>
          </a:p>
        </p:txBody>
      </p:sp>
      <p:cxnSp>
        <p:nvCxnSpPr>
          <p:cNvPr id="29" name="header-rule-3"/>
          <p:cNvCxnSpPr/>
          <p:nvPr/>
        </p:nvCxnSpPr>
        <p:spPr>
          <a:xfrm xmlns:a="http://schemas.openxmlformats.org/drawingml/2006/main">
            <a:off x="685800" y="1676400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33653"/>
            </a:solidFill>
            <a:prstDash val="solid"/>
          </a:ln>
        </p:spPr>
      </p:cxn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AEEAED6B-B53F-4C52-B77F-83127E83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6B3CC"/>
                </a:solidFill>
              </a:defRPr>
            </a:pPr>
            <a:r>
              <a:rPr sz="1050" b="0">
                <a:solidFill>
                  <a:srgbClr val="A6B3CC"/>
                </a:solidFill>
              </a:rPr>
              <a:t>03</a:t>
            </a:r>
          </a:p>
        </p:txBody>
      </p:sp>
      <p:cxnSp>
        <p:nvCxnSpPr>
          <p:cNvPr id="31" name="process-edge-0"/>
          <p:cNvCxnSpPr/>
          <p:nvPr/>
        </p:nvCxnSpPr>
        <p:spPr>
          <a:xfrm xmlns:a="http://schemas.openxmlformats.org/drawingml/2006/main">
            <a:off x="2686050" y="3219450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9E4F6"/>
            </a:solidFill>
            <a:prstDash val="solid"/>
          </a:ln>
        </p:spPr>
      </p:cxnSp>
      <p:cxnSp>
        <p:nvCxnSpPr>
          <p:cNvPr id="32" name="process-edge-1"/>
          <p:cNvCxnSpPr/>
          <p:nvPr/>
        </p:nvCxnSpPr>
        <p:spPr>
          <a:xfrm xmlns:a="http://schemas.openxmlformats.org/drawingml/2006/main">
            <a:off x="5410200" y="3219450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9E4F6"/>
            </a:solidFill>
            <a:prstDash val="solid"/>
          </a:ln>
        </p:spPr>
      </p:cxnSp>
      <p:cxnSp>
        <p:nvCxnSpPr>
          <p:cNvPr id="33" name="process-edge-2"/>
          <p:cNvCxnSpPr/>
          <p:nvPr/>
        </p:nvCxnSpPr>
        <p:spPr>
          <a:xfrm xmlns:a="http://schemas.openxmlformats.org/drawingml/2006/main">
            <a:off x="8134350" y="3219450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9E4F6"/>
            </a:solidFill>
            <a:prstDash val="solid"/>
          </a:ln>
        </p:spPr>
      </p:cxnSp>
      <p:sp>
        <p:nvSpPr>
          <p:cNvPr id="8" name="stage-0">
            <a:extLst xmlns:a="http://schemas.openxmlformats.org/drawingml/2006/main">
              <a:ext uri="{FF2B5EF4-FFF2-40B4-BE49-F238E27FC236}">
                <a16:creationId xmlns:a16="http://schemas.microsoft.com/office/drawing/2014/main" id="{4D1D5D89-590A-45B4-9AB2-FFDCCACF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2000250" cy="1504950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0D1930"/>
          </a:solidFill>
          <a:ln xmlns:a="http://schemas.openxmlformats.org/drawingml/2006/main" w="9525">
            <a:solidFill>
              <a:srgbClr val="233653"/>
            </a:solidFill>
            <a:prstDash val="solid"/>
          </a:ln>
        </p:spPr>
      </p:sp>
      <p:sp>
        <p:nvSpPr>
          <p:cNvPr id="9" name="stage-num-0">
            <a:extLst xmlns:a="http://schemas.openxmlformats.org/drawingml/2006/main">
              <a:ext uri="{FF2B5EF4-FFF2-40B4-BE49-F238E27FC236}">
                <a16:creationId xmlns:a16="http://schemas.microsoft.com/office/drawing/2014/main" id="{7D6ECC54-C6A9-47A1-A835-D2A646CC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9E4F6"/>
                </a:solidFill>
              </a:defRPr>
            </a:pPr>
            <a:r>
              <a:rPr sz="1275" b="1">
                <a:solidFill>
                  <a:srgbClr val="59E4F6"/>
                </a:solidFill>
              </a:rPr>
              <a:t>01</a:t>
            </a:r>
          </a:p>
        </p:txBody>
      </p:sp>
      <p:sp>
        <p:nvSpPr>
          <p:cNvPr id="10" name="stage-label-0">
            <a:extLst xmlns:a="http://schemas.openxmlformats.org/drawingml/2006/main">
              <a:ext uri="{FF2B5EF4-FFF2-40B4-BE49-F238E27FC236}">
                <a16:creationId xmlns:a16="http://schemas.microsoft.com/office/drawing/2014/main" id="{1D5CF3DE-005E-494F-A115-F54EF3D3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EF4FF"/>
                </a:solidFill>
              </a:defRPr>
            </a:pPr>
            <a:r>
              <a:rPr sz="1800" b="1">
                <a:solidFill>
                  <a:srgbClr val="EEF4FF"/>
                </a:solidFill>
              </a:rPr>
              <a:t>PLAN</a:t>
            </a:r>
          </a:p>
        </p:txBody>
      </p:sp>
      <p:sp>
        <p:nvSpPr>
          <p:cNvPr id="11" name="stage-body-0">
            <a:extLst xmlns:a="http://schemas.openxmlformats.org/drawingml/2006/main">
              <a:ext uri="{FF2B5EF4-FFF2-40B4-BE49-F238E27FC236}">
                <a16:creationId xmlns:a16="http://schemas.microsoft.com/office/drawing/2014/main" id="{C8B5E2E4-EE40-411F-B5A7-3BE8D411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05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6B3CC"/>
                </a:solidFill>
              </a:defRPr>
            </a:pPr>
            <a:r>
              <a:rPr sz="1200" b="0">
                <a:solidFill>
                  <a:srgbClr val="A6B3CC"/>
                </a:solidFill>
              </a:rPr>
              <a:t>Shape the approach</a:t>
            </a:r>
          </a:p>
        </p:txBody>
      </p:sp>
      <p:sp>
        <p:nvSpPr>
          <p:cNvPr id="12" name="stage-1">
            <a:extLst xmlns:a="http://schemas.openxmlformats.org/drawingml/2006/main">
              <a:ext uri="{FF2B5EF4-FFF2-40B4-BE49-F238E27FC236}">
                <a16:creationId xmlns:a16="http://schemas.microsoft.com/office/drawing/2014/main" id="{5BCC09D1-7EF5-4DAD-841F-D6EF9759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76500"/>
            <a:ext cx="2000250" cy="1504950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0D1930"/>
          </a:solidFill>
          <a:ln xmlns:a="http://schemas.openxmlformats.org/drawingml/2006/main" w="9525">
            <a:solidFill>
              <a:srgbClr val="233653"/>
            </a:solidFill>
            <a:prstDash val="solid"/>
          </a:ln>
        </p:spPr>
      </p:sp>
      <p:sp>
        <p:nvSpPr>
          <p:cNvPr id="13" name="stage-num-1">
            <a:extLst xmlns:a="http://schemas.openxmlformats.org/drawingml/2006/main">
              <a:ext uri="{FF2B5EF4-FFF2-40B4-BE49-F238E27FC236}">
                <a16:creationId xmlns:a16="http://schemas.microsoft.com/office/drawing/2014/main" id="{519C985A-5540-4EAA-9423-9F9892F22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6670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9E4F6"/>
                </a:solidFill>
              </a:defRPr>
            </a:pPr>
            <a:r>
              <a:rPr sz="1275" b="1">
                <a:solidFill>
                  <a:srgbClr val="59E4F6"/>
                </a:solidFill>
              </a:rPr>
              <a:t>02</a:t>
            </a:r>
          </a:p>
        </p:txBody>
      </p:sp>
      <p:sp>
        <p:nvSpPr>
          <p:cNvPr id="14" name="stage-label-1">
            <a:extLst xmlns:a="http://schemas.openxmlformats.org/drawingml/2006/main">
              <a:ext uri="{FF2B5EF4-FFF2-40B4-BE49-F238E27FC236}">
                <a16:creationId xmlns:a16="http://schemas.microsoft.com/office/drawing/2014/main" id="{BD043DDD-E1E7-4B36-A20F-3D619A91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0480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EF4FF"/>
                </a:solidFill>
              </a:defRPr>
            </a:pPr>
            <a:r>
              <a:rPr sz="1800" b="1">
                <a:solidFill>
                  <a:srgbClr val="EEF4FF"/>
                </a:solidFill>
              </a:rPr>
              <a:t>GENERATE</a:t>
            </a:r>
          </a:p>
        </p:txBody>
      </p:sp>
      <p:sp>
        <p:nvSpPr>
          <p:cNvPr id="15" name="stage-body-1">
            <a:extLst xmlns:a="http://schemas.openxmlformats.org/drawingml/2006/main">
              <a:ext uri="{FF2B5EF4-FFF2-40B4-BE49-F238E27FC236}">
                <a16:creationId xmlns:a16="http://schemas.microsoft.com/office/drawing/2014/main" id="{955847A8-36A7-44D3-B755-009555F1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505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6B3CC"/>
                </a:solidFill>
              </a:defRPr>
            </a:pPr>
            <a:r>
              <a:rPr sz="1200" b="0">
                <a:solidFill>
                  <a:srgbClr val="A6B3CC"/>
                </a:solidFill>
              </a:rPr>
              <a:t>Build version one</a:t>
            </a:r>
          </a:p>
        </p:txBody>
      </p:sp>
      <p:sp>
        <p:nvSpPr>
          <p:cNvPr id="16" name="stage-2">
            <a:extLst xmlns:a="http://schemas.openxmlformats.org/drawingml/2006/main">
              <a:ext uri="{FF2B5EF4-FFF2-40B4-BE49-F238E27FC236}">
                <a16:creationId xmlns:a16="http://schemas.microsoft.com/office/drawing/2014/main" id="{B27BFD4A-D2F3-45EE-B4B6-4CD64655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76500"/>
            <a:ext cx="2000250" cy="1504950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111F39"/>
          </a:solidFill>
          <a:ln xmlns:a="http://schemas.openxmlformats.org/drawingml/2006/main" w="9525">
            <a:solidFill>
              <a:srgbClr val="9B8AFB"/>
            </a:solidFill>
            <a:prstDash val="solid"/>
          </a:ln>
        </p:spPr>
      </p:sp>
      <p:sp>
        <p:nvSpPr>
          <p:cNvPr id="17" name="stage-num-2">
            <a:extLst xmlns:a="http://schemas.openxmlformats.org/drawingml/2006/main">
              <a:ext uri="{FF2B5EF4-FFF2-40B4-BE49-F238E27FC236}">
                <a16:creationId xmlns:a16="http://schemas.microsoft.com/office/drawing/2014/main" id="{9C9EA41D-54A2-4414-875A-52AC0F99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670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9E4F6"/>
                </a:solidFill>
              </a:defRPr>
            </a:pPr>
            <a:r>
              <a:rPr sz="1275" b="1">
                <a:solidFill>
                  <a:srgbClr val="59E4F6"/>
                </a:solidFill>
              </a:rPr>
              <a:t>03</a:t>
            </a:r>
          </a:p>
        </p:txBody>
      </p:sp>
      <p:sp>
        <p:nvSpPr>
          <p:cNvPr id="18" name="stage-label-2">
            <a:extLst xmlns:a="http://schemas.openxmlformats.org/drawingml/2006/main">
              <a:ext uri="{FF2B5EF4-FFF2-40B4-BE49-F238E27FC236}">
                <a16:creationId xmlns:a16="http://schemas.microsoft.com/office/drawing/2014/main" id="{2583ACF1-A0F1-46D2-BA45-31668121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480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EF4FF"/>
                </a:solidFill>
              </a:defRPr>
            </a:pPr>
            <a:r>
              <a:rPr sz="1800" b="1">
                <a:solidFill>
                  <a:srgbClr val="EEF4FF"/>
                </a:solidFill>
              </a:rPr>
              <a:t>REVIEW</a:t>
            </a:r>
          </a:p>
        </p:txBody>
      </p:sp>
      <p:sp>
        <p:nvSpPr>
          <p:cNvPr id="19" name="stage-body-2">
            <a:extLst xmlns:a="http://schemas.openxmlformats.org/drawingml/2006/main">
              <a:ext uri="{FF2B5EF4-FFF2-40B4-BE49-F238E27FC236}">
                <a16:creationId xmlns:a16="http://schemas.microsoft.com/office/drawing/2014/main" id="{35B3E35B-9981-49C6-A207-8E64DBC6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05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6B3CC"/>
                </a:solidFill>
              </a:defRPr>
            </a:pPr>
            <a:r>
              <a:rPr sz="1200" b="0">
                <a:solidFill>
                  <a:srgbClr val="A6B3CC"/>
                </a:solidFill>
              </a:rPr>
              <a:t>Score six dimensions</a:t>
            </a:r>
          </a:p>
        </p:txBody>
      </p:sp>
      <p:sp>
        <p:nvSpPr>
          <p:cNvPr id="20" name="stage-3">
            <a:extLst xmlns:a="http://schemas.openxmlformats.org/drawingml/2006/main">
              <a:ext uri="{FF2B5EF4-FFF2-40B4-BE49-F238E27FC236}">
                <a16:creationId xmlns:a16="http://schemas.microsoft.com/office/drawing/2014/main" id="{3EEBAA46-EEC8-4E01-A964-289C534F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76500"/>
            <a:ext cx="2000250" cy="1504950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0D1930"/>
          </a:solidFill>
          <a:ln xmlns:a="http://schemas.openxmlformats.org/drawingml/2006/main" w="9525">
            <a:solidFill>
              <a:srgbClr val="233653"/>
            </a:solidFill>
            <a:prstDash val="solid"/>
          </a:ln>
        </p:spPr>
      </p:sp>
      <p:sp>
        <p:nvSpPr>
          <p:cNvPr id="21" name="stage-num-3">
            <a:extLst xmlns:a="http://schemas.openxmlformats.org/drawingml/2006/main">
              <a:ext uri="{FF2B5EF4-FFF2-40B4-BE49-F238E27FC236}">
                <a16:creationId xmlns:a16="http://schemas.microsoft.com/office/drawing/2014/main" id="{00738081-0FA6-4495-BD4B-F002C4816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670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9E4F6"/>
                </a:solidFill>
              </a:defRPr>
            </a:pPr>
            <a:r>
              <a:rPr sz="1275" b="1">
                <a:solidFill>
                  <a:srgbClr val="59E4F6"/>
                </a:solidFill>
              </a:rPr>
              <a:t>04</a:t>
            </a:r>
          </a:p>
        </p:txBody>
      </p:sp>
      <p:sp>
        <p:nvSpPr>
          <p:cNvPr id="22" name="stage-label-3">
            <a:extLst xmlns:a="http://schemas.openxmlformats.org/drawingml/2006/main">
              <a:ext uri="{FF2B5EF4-FFF2-40B4-BE49-F238E27FC236}">
                <a16:creationId xmlns:a16="http://schemas.microsoft.com/office/drawing/2014/main" id="{35837412-68EB-44AF-BC4C-9EA408845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480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EF4FF"/>
                </a:solidFill>
              </a:defRPr>
            </a:pPr>
            <a:r>
              <a:rPr sz="1800" b="1">
                <a:solidFill>
                  <a:srgbClr val="EEF4FF"/>
                </a:solidFill>
              </a:rPr>
              <a:t>IMPROVE</a:t>
            </a:r>
          </a:p>
        </p:txBody>
      </p:sp>
      <p:sp>
        <p:nvSpPr>
          <p:cNvPr id="23" name="stage-body-3">
            <a:extLst xmlns:a="http://schemas.openxmlformats.org/drawingml/2006/main">
              <a:ext uri="{FF2B5EF4-FFF2-40B4-BE49-F238E27FC236}">
                <a16:creationId xmlns:a16="http://schemas.microsoft.com/office/drawing/2014/main" id="{704F8AE7-5E55-4130-8F8F-094309AA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05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6B3CC"/>
                </a:solidFill>
              </a:defRPr>
            </a:pPr>
            <a:r>
              <a:rPr sz="1200" b="0">
                <a:solidFill>
                  <a:srgbClr val="A6B3CC"/>
                </a:solidFill>
              </a:rPr>
              <a:t>Apply the findings</a:t>
            </a:r>
          </a:p>
        </p:txBody>
      </p:sp>
      <p:sp>
        <p:nvSpPr>
          <p:cNvPr id="24" name="stop-condition">
            <a:extLst xmlns:a="http://schemas.openxmlformats.org/drawingml/2006/main">
              <a:ext uri="{FF2B5EF4-FFF2-40B4-BE49-F238E27FC236}">
                <a16:creationId xmlns:a16="http://schemas.microsoft.com/office/drawing/2014/main" id="{2B4F93A0-31A4-4CA7-9D47-6EF30E35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686300"/>
            <a:ext cx="74676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A2530"/>
          </a:solidFill>
          <a:ln xmlns:a="http://schemas.openxmlformats.org/drawingml/2006/main" w="9525">
            <a:solidFill>
              <a:srgbClr val="54E5A4"/>
            </a:solidFill>
            <a:prstDash val="solid"/>
          </a:ln>
        </p:spPr>
      </p:sp>
      <p:sp>
        <p:nvSpPr>
          <p:cNvPr id="25" name="stop-label">
            <a:extLst xmlns:a="http://schemas.openxmlformats.org/drawingml/2006/main">
              <a:ext uri="{FF2B5EF4-FFF2-40B4-BE49-F238E27FC236}">
                <a16:creationId xmlns:a16="http://schemas.microsoft.com/office/drawing/2014/main" id="{6E88934E-3DE2-4420-9E9E-42A99E3F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9053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4E5A4"/>
                </a:solidFill>
              </a:defRPr>
            </a:pPr>
            <a:r>
              <a:rPr sz="1200" b="1">
                <a:solidFill>
                  <a:srgbClr val="54E5A4"/>
                </a:solidFill>
              </a:rPr>
              <a:t>CONTROLLED STOP CONDITION</a:t>
            </a:r>
          </a:p>
        </p:txBody>
      </p:sp>
      <p:sp>
        <p:nvSpPr>
          <p:cNvPr id="26" name="stop-value">
            <a:extLst xmlns:a="http://schemas.openxmlformats.org/drawingml/2006/main">
              <a:ext uri="{FF2B5EF4-FFF2-40B4-BE49-F238E27FC236}">
                <a16:creationId xmlns:a16="http://schemas.microsoft.com/office/drawing/2014/main" id="{FDC94C73-37A8-4F30-AD02-0AA5C0C69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2197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EF4FF"/>
                </a:solidFill>
              </a:defRPr>
            </a:pPr>
            <a:r>
              <a:rPr sz="2025" b="1">
                <a:solidFill>
                  <a:srgbClr val="EEF4FF"/>
                </a:solidFill>
              </a:rPr>
              <a:t>Quality score ≥ 85  or  3 reviewed iterations</a:t>
            </a:r>
          </a:p>
        </p:txBody>
      </p:sp>
    </p:spTree>
    <p:extLst>
      <p:ext uri="{BB962C8B-B14F-4D97-AF65-F5344CB8AC3E}">
        <p14:creationId xmlns:p14="http://schemas.microsoft.com/office/powerpoint/2010/main" val="2608914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0B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-4">
            <a:extLst xmlns:a="http://schemas.openxmlformats.org/drawingml/2006/main">
              <a:ext uri="{FF2B5EF4-FFF2-40B4-BE49-F238E27FC236}">
                <a16:creationId xmlns:a16="http://schemas.microsoft.com/office/drawing/2014/main" id="{9BAAE0C9-A9B5-4FFA-914E-376DE80A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9E4F6"/>
                </a:solidFill>
              </a:defRPr>
            </a:pPr>
            <a:r>
              <a:rPr sz="1200" b="1">
                <a:solidFill>
                  <a:srgbClr val="59E4F6"/>
                </a:solidFill>
              </a:rPr>
              <a:t>WORKING EVIDENCE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1334E066-DD49-4E51-BD88-E1AA0CCF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EEF4FF"/>
                </a:solidFill>
              </a:defRPr>
            </a:pPr>
            <a:r>
              <a:rPr sz="3600" b="1">
                <a:solidFill>
                  <a:srgbClr val="EEF4FF"/>
                </a:solidFill>
              </a:rPr>
              <a:t>A working product leaves an evidence trail.</a:t>
            </a:r>
          </a:p>
        </p:txBody>
      </p:sp>
      <p:cxnSp>
        <p:nvCxnSpPr>
          <p:cNvPr id="15" name="header-rule-4"/>
          <p:cNvCxnSpPr/>
          <p:nvPr/>
        </p:nvCxnSpPr>
        <p:spPr>
          <a:xfrm xmlns:a="http://schemas.openxmlformats.org/drawingml/2006/main">
            <a:off x="685800" y="1676400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33653"/>
            </a:solidFill>
            <a:prstDash val="solid"/>
          </a:ln>
        </p:spPr>
      </p:cxn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E39CC4AE-76A7-4AB3-9B54-7AB20A54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6B3CC"/>
                </a:solidFill>
              </a:defRPr>
            </a:pPr>
            <a:r>
              <a:rPr sz="1050" b="0">
                <a:solidFill>
                  <a:srgbClr val="A6B3CC"/>
                </a:solidFill>
              </a:rPr>
              <a:t>04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f816492e524fbc"/>
          <a:stretch xmlns:a="http://schemas.openxmlformats.org/drawingml/2006/main"/>
        </p:blipFill>
        <p:spPr>
          <a:xfrm xmlns:a="http://schemas.openxmlformats.org/drawingml/2006/main">
            <a:off x="931333" y="1924050"/>
            <a:ext cx="7281333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6" name="proof-stat-0">
            <a:extLst xmlns:a="http://schemas.openxmlformats.org/drawingml/2006/main">
              <a:ext uri="{FF2B5EF4-FFF2-40B4-BE49-F238E27FC236}">
                <a16:creationId xmlns:a16="http://schemas.microsoft.com/office/drawing/2014/main" id="{0CBC267A-89E8-454B-830B-2C1B39DC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002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54E5A4"/>
                </a:solidFill>
              </a:defRPr>
            </a:pPr>
            <a:r>
              <a:rPr sz="3750" b="1">
                <a:solidFill>
                  <a:srgbClr val="54E5A4"/>
                </a:solidFill>
              </a:rPr>
              <a:t>94</a:t>
            </a:r>
          </a:p>
        </p:txBody>
      </p:sp>
      <p:sp>
        <p:nvSpPr>
          <p:cNvPr id="7" name="proof-label-0">
            <a:extLst xmlns:a="http://schemas.openxmlformats.org/drawingml/2006/main">
              <a:ext uri="{FF2B5EF4-FFF2-40B4-BE49-F238E27FC236}">
                <a16:creationId xmlns:a16="http://schemas.microsoft.com/office/drawing/2014/main" id="{97ABD42F-8E56-41A4-84E8-F448DD50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908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B3CC"/>
                </a:solidFill>
              </a:defRPr>
            </a:pPr>
            <a:r>
              <a:rPr sz="1350" b="0">
                <a:solidFill>
                  <a:srgbClr val="A6B3CC"/>
                </a:solidFill>
              </a:rPr>
              <a:t>reviewed quality score</a:t>
            </a:r>
          </a:p>
        </p:txBody>
      </p:sp>
      <p:sp>
        <p:nvSpPr>
          <p:cNvPr id="8" name="proof-stat-1">
            <a:extLst xmlns:a="http://schemas.openxmlformats.org/drawingml/2006/main">
              <a:ext uri="{FF2B5EF4-FFF2-40B4-BE49-F238E27FC236}">
                <a16:creationId xmlns:a16="http://schemas.microsoft.com/office/drawing/2014/main" id="{1AAC088F-21F0-4F9A-9ABF-14E1107A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004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59E4F6"/>
                </a:solidFill>
              </a:defRPr>
            </a:pPr>
            <a:r>
              <a:rPr sz="3750" b="1">
                <a:solidFill>
                  <a:srgbClr val="59E4F6"/>
                </a:solidFill>
              </a:rPr>
              <a:t>6</a:t>
            </a:r>
          </a:p>
        </p:txBody>
      </p:sp>
      <p:sp>
        <p:nvSpPr>
          <p:cNvPr id="9" name="proof-label-1">
            <a:extLst xmlns:a="http://schemas.openxmlformats.org/drawingml/2006/main">
              <a:ext uri="{FF2B5EF4-FFF2-40B4-BE49-F238E27FC236}">
                <a16:creationId xmlns:a16="http://schemas.microsoft.com/office/drawing/2014/main" id="{493265F1-9BC8-46BE-B719-9F4295EE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909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B3CC"/>
                </a:solidFill>
              </a:defRPr>
            </a:pPr>
            <a:r>
              <a:rPr sz="1350" b="0">
                <a:solidFill>
                  <a:srgbClr val="A6B3CC"/>
                </a:solidFill>
              </a:rPr>
              <a:t>structured dimensions</a:t>
            </a:r>
          </a:p>
        </p:txBody>
      </p:sp>
      <p:sp>
        <p:nvSpPr>
          <p:cNvPr id="10" name="proof-stat-2">
            <a:extLst xmlns:a="http://schemas.openxmlformats.org/drawingml/2006/main">
              <a:ext uri="{FF2B5EF4-FFF2-40B4-BE49-F238E27FC236}">
                <a16:creationId xmlns:a16="http://schemas.microsoft.com/office/drawing/2014/main" id="{23857544-F1E8-45EB-96EB-9C3BC976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4005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59E4F6"/>
                </a:solidFill>
              </a:defRPr>
            </a:pPr>
            <a:r>
              <a:rPr sz="3750" b="1">
                <a:solidFill>
                  <a:srgbClr val="59E4F6"/>
                </a:solidFill>
              </a:rPr>
              <a:t>6</a:t>
            </a:r>
          </a:p>
        </p:txBody>
      </p:sp>
      <p:sp>
        <p:nvSpPr>
          <p:cNvPr id="11" name="proof-label-2">
            <a:extLst xmlns:a="http://schemas.openxmlformats.org/drawingml/2006/main">
              <a:ext uri="{FF2B5EF4-FFF2-40B4-BE49-F238E27FC236}">
                <a16:creationId xmlns:a16="http://schemas.microsoft.com/office/drawing/2014/main" id="{8AC3DD72-5AA2-41B6-8A14-0F3C2795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9911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B3CC"/>
                </a:solidFill>
              </a:defRPr>
            </a:pPr>
            <a:r>
              <a:rPr sz="1350" b="0">
                <a:solidFill>
                  <a:srgbClr val="A6B3CC"/>
                </a:solidFill>
              </a:rPr>
              <a:t>downloadable project files</a:t>
            </a:r>
          </a:p>
        </p:txBody>
      </p:sp>
      <p:sp>
        <p:nvSpPr>
          <p:cNvPr id="12" name="proof-note">
            <a:extLst xmlns:a="http://schemas.openxmlformats.org/drawingml/2006/main">
              <a:ext uri="{FF2B5EF4-FFF2-40B4-BE49-F238E27FC236}">
                <a16:creationId xmlns:a16="http://schemas.microsoft.com/office/drawing/2014/main" id="{67F72BC5-7619-4351-A753-31517197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619750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C857"/>
                </a:solidFill>
              </a:defRPr>
            </a:pPr>
            <a:r>
              <a:rPr sz="1275" b="0">
                <a:solidFill>
                  <a:srgbClr val="FFC857"/>
                </a:solidFill>
              </a:rPr>
              <a:t>This live run cleared the threshold on iteration one—so the loop stopped early by design.</a:t>
            </a:r>
          </a:p>
        </p:txBody>
      </p:sp>
    </p:spTree>
    <p:extLst>
      <p:ext uri="{BB962C8B-B14F-4D97-AF65-F5344CB8AC3E}">
        <p14:creationId xmlns:p14="http://schemas.microsoft.com/office/powerpoint/2010/main" val="8290084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50B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-5">
            <a:extLst xmlns:a="http://schemas.openxmlformats.org/drawingml/2006/main">
              <a:ext uri="{FF2B5EF4-FFF2-40B4-BE49-F238E27FC236}">
                <a16:creationId xmlns:a16="http://schemas.microsoft.com/office/drawing/2014/main" id="{989FE602-734B-4928-B709-D6083DCC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9E4F6"/>
                </a:solidFill>
              </a:defRPr>
            </a:pPr>
            <a:r>
              <a:rPr sz="1200" b="1">
                <a:solidFill>
                  <a:srgbClr val="59E4F6"/>
                </a:solidFill>
              </a:rPr>
              <a:t>ARCHITECTURE AND TRUST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FC7A06F4-D58F-44EA-8B91-A2B2A6D3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EEF4FF"/>
                </a:solidFill>
              </a:defRPr>
            </a:pPr>
            <a:r>
              <a:rPr sz="3600" b="1">
                <a:solidFill>
                  <a:srgbClr val="EEF4FF"/>
                </a:solidFill>
              </a:rPr>
              <a:t>The application owns the loop—and its limits.</a:t>
            </a:r>
          </a:p>
        </p:txBody>
      </p:sp>
      <p:cxnSp>
        <p:nvCxnSpPr>
          <p:cNvPr id="25" name="header-rule-5"/>
          <p:cNvCxnSpPr/>
          <p:nvPr/>
        </p:nvCxnSpPr>
        <p:spPr>
          <a:xfrm xmlns:a="http://schemas.openxmlformats.org/drawingml/2006/main">
            <a:off x="685800" y="1676400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33653"/>
            </a:solidFill>
            <a:prstDash val="solid"/>
          </a:ln>
        </p:spPr>
      </p:cxn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937CD419-E899-45DB-94D5-F980A870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6B3CC"/>
                </a:solidFill>
              </a:defRPr>
            </a:pPr>
            <a:r>
              <a:rPr sz="1050" b="0">
                <a:solidFill>
                  <a:srgbClr val="A6B3CC"/>
                </a:solidFill>
              </a:rPr>
              <a:t>05</a:t>
            </a:r>
          </a:p>
        </p:txBody>
      </p:sp>
      <p:cxnSp>
        <p:nvCxnSpPr>
          <p:cNvPr id="27" name="arch-edge-1"/>
          <p:cNvCxnSpPr/>
          <p:nvPr/>
        </p:nvCxnSpPr>
        <p:spPr>
          <a:xfrm xmlns:a="http://schemas.openxmlformats.org/drawingml/2006/main">
            <a:off x="3219450" y="302895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B8AFB"/>
            </a:solidFill>
            <a:prstDash val="solid"/>
          </a:ln>
        </p:spPr>
      </p:cxnSp>
      <p:cxnSp>
        <p:nvCxnSpPr>
          <p:cNvPr id="28" name="arch-edge-2"/>
          <p:cNvCxnSpPr/>
          <p:nvPr/>
        </p:nvCxnSpPr>
        <p:spPr>
          <a:xfrm xmlns:a="http://schemas.openxmlformats.org/drawingml/2006/main">
            <a:off x="7124700" y="302895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B8AFB"/>
            </a:solidFill>
            <a:prstDash val="solid"/>
          </a:ln>
        </p:spPr>
      </p:cxnSp>
      <p:sp>
        <p:nvSpPr>
          <p:cNvPr id="7" name="arch-node-0">
            <a:extLst xmlns:a="http://schemas.openxmlformats.org/drawingml/2006/main">
              <a:ext uri="{FF2B5EF4-FFF2-40B4-BE49-F238E27FC236}">
                <a16:creationId xmlns:a16="http://schemas.microsoft.com/office/drawing/2014/main" id="{04ABB109-4321-4114-B419-69CDA714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23431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0D1930"/>
          </a:solidFill>
          <a:ln xmlns:a="http://schemas.openxmlformats.org/drawingml/2006/main" w="9525">
            <a:solidFill>
              <a:srgbClr val="233653"/>
            </a:solidFill>
            <a:prstDash val="solid"/>
          </a:ln>
        </p:spPr>
      </p:sp>
      <p:sp>
        <p:nvSpPr>
          <p:cNvPr id="8" name="arch-label-0">
            <a:extLst xmlns:a="http://schemas.openxmlformats.org/drawingml/2006/main">
              <a:ext uri="{FF2B5EF4-FFF2-40B4-BE49-F238E27FC236}">
                <a16:creationId xmlns:a16="http://schemas.microsoft.com/office/drawing/2014/main" id="{7F846EB8-86CA-4790-AB88-678563EF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098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EF4FF"/>
                </a:solidFill>
              </a:defRPr>
            </a:pPr>
            <a:r>
              <a:rPr sz="1725" b="1">
                <a:solidFill>
                  <a:srgbClr val="EEF4FF"/>
                </a:solidFill>
              </a:rPr>
              <a:t>ANGULAR</a:t>
            </a:r>
          </a:p>
        </p:txBody>
      </p:sp>
      <p:sp>
        <p:nvSpPr>
          <p:cNvPr id="9" name="arch-body-0">
            <a:extLst xmlns:a="http://schemas.openxmlformats.org/drawingml/2006/main">
              <a:ext uri="{FF2B5EF4-FFF2-40B4-BE49-F238E27FC236}">
                <a16:creationId xmlns:a16="http://schemas.microsoft.com/office/drawing/2014/main" id="{384E1BC5-A0F8-47F0-A413-FA5DD3B54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05150"/>
            <a:ext cx="192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B3CC"/>
                </a:solidFill>
              </a:defRPr>
            </a:pPr>
            <a:r>
              <a:rPr sz="1350" b="0">
                <a:solidFill>
                  <a:srgbClr val="A6B3CC"/>
                </a:solidFill>
              </a:rPr>
              <a:t>Visible workflow</a:t>
            </a:r>
          </a:p>
          <a:p xmlns:a="http://schemas.openxmlformats.org/drawingml/2006/main">
            <a:pPr algn="l">
              <a:defRPr sz="1350" b="0">
                <a:solidFill>
                  <a:srgbClr val="A6B3CC"/>
                </a:solidFill>
              </a:defRPr>
            </a:pPr>
            <a:r>
              <a:rPr sz="1350" b="0">
                <a:solidFill>
                  <a:srgbClr val="A6B3CC"/>
                </a:solidFill>
              </a:rPr>
              <a:t>and evidence</a:t>
            </a:r>
          </a:p>
        </p:txBody>
      </p:sp>
      <p:sp>
        <p:nvSpPr>
          <p:cNvPr id="10" name="arch-node-1">
            <a:extLst xmlns:a="http://schemas.openxmlformats.org/drawingml/2006/main">
              <a:ext uri="{FF2B5EF4-FFF2-40B4-BE49-F238E27FC236}">
                <a16:creationId xmlns:a16="http://schemas.microsoft.com/office/drawing/2014/main" id="{1AAF0442-FD9A-4395-BE67-5FD5D608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43150"/>
            <a:ext cx="27622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0D1930"/>
          </a:solidFill>
          <a:ln xmlns:a="http://schemas.openxmlformats.org/drawingml/2006/main" w="9525">
            <a:solidFill>
              <a:srgbClr val="233653"/>
            </a:solidFill>
            <a:prstDash val="solid"/>
          </a:ln>
        </p:spPr>
      </p:sp>
      <p:sp>
        <p:nvSpPr>
          <p:cNvPr id="11" name="arch-label-1">
            <a:extLst xmlns:a="http://schemas.openxmlformats.org/drawingml/2006/main">
              <a:ext uri="{FF2B5EF4-FFF2-40B4-BE49-F238E27FC236}">
                <a16:creationId xmlns:a16="http://schemas.microsoft.com/office/drawing/2014/main" id="{2CDB0024-F44C-4547-BC59-12963D38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0985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9E4F6"/>
                </a:solidFill>
              </a:defRPr>
            </a:pPr>
            <a:r>
              <a:rPr sz="1725" b="1">
                <a:solidFill>
                  <a:srgbClr val="59E4F6"/>
                </a:solidFill>
              </a:rPr>
              <a:t>EXPRESS + TYPESCRIPT</a:t>
            </a:r>
          </a:p>
        </p:txBody>
      </p:sp>
      <p:sp>
        <p:nvSpPr>
          <p:cNvPr id="12" name="arch-body-1">
            <a:extLst xmlns:a="http://schemas.openxmlformats.org/drawingml/2006/main">
              <a:ext uri="{FF2B5EF4-FFF2-40B4-BE49-F238E27FC236}">
                <a16:creationId xmlns:a16="http://schemas.microsoft.com/office/drawing/2014/main" id="{F06EE4A0-3116-4D6F-8D35-D2CC10CB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05150"/>
            <a:ext cx="2343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B3CC"/>
                </a:solidFill>
              </a:defRPr>
            </a:pPr>
            <a:r>
              <a:rPr sz="1350" b="0">
                <a:solidFill>
                  <a:srgbClr val="A6B3CC"/>
                </a:solidFill>
              </a:rPr>
              <a:t>Bounded orchestration</a:t>
            </a:r>
          </a:p>
          <a:p xmlns:a="http://schemas.openxmlformats.org/drawingml/2006/main">
            <a:pPr algn="l">
              <a:defRPr sz="1350" b="0">
                <a:solidFill>
                  <a:srgbClr val="A6B3CC"/>
                </a:solidFill>
              </a:defRPr>
            </a:pPr>
            <a:r>
              <a:rPr sz="1350" b="0">
                <a:solidFill>
                  <a:srgbClr val="A6B3CC"/>
                </a:solidFill>
              </a:rPr>
              <a:t>and SSE updates</a:t>
            </a:r>
          </a:p>
        </p:txBody>
      </p:sp>
      <p:sp>
        <p:nvSpPr>
          <p:cNvPr id="13" name="arch-node-2">
            <a:extLst xmlns:a="http://schemas.openxmlformats.org/drawingml/2006/main">
              <a:ext uri="{FF2B5EF4-FFF2-40B4-BE49-F238E27FC236}">
                <a16:creationId xmlns:a16="http://schemas.microsoft.com/office/drawing/2014/main" id="{E1DCE055-6EE0-475B-82A6-3C2A40F9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43150"/>
            <a:ext cx="23431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0D1930"/>
          </a:solidFill>
          <a:ln xmlns:a="http://schemas.openxmlformats.org/drawingml/2006/main" w="9525">
            <a:solidFill>
              <a:srgbClr val="233653"/>
            </a:solidFill>
            <a:prstDash val="solid"/>
          </a:ln>
        </p:spPr>
      </p:sp>
      <p:sp>
        <p:nvSpPr>
          <p:cNvPr id="14" name="arch-label-2">
            <a:extLst xmlns:a="http://schemas.openxmlformats.org/drawingml/2006/main">
              <a:ext uri="{FF2B5EF4-FFF2-40B4-BE49-F238E27FC236}">
                <a16:creationId xmlns:a16="http://schemas.microsoft.com/office/drawing/2014/main" id="{C8ED5B9D-1231-41D0-B6D4-5348AFE7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098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EF4FF"/>
                </a:solidFill>
              </a:defRPr>
            </a:pPr>
            <a:r>
              <a:rPr sz="1725" b="1">
                <a:solidFill>
                  <a:srgbClr val="EEF4FF"/>
                </a:solidFill>
              </a:rPr>
              <a:t>OPENAI</a:t>
            </a:r>
          </a:p>
        </p:txBody>
      </p:sp>
      <p:sp>
        <p:nvSpPr>
          <p:cNvPr id="15" name="arch-body-2">
            <a:extLst xmlns:a="http://schemas.openxmlformats.org/drawingml/2006/main">
              <a:ext uri="{FF2B5EF4-FFF2-40B4-BE49-F238E27FC236}">
                <a16:creationId xmlns:a16="http://schemas.microsoft.com/office/drawing/2014/main" id="{494FF293-2630-4D11-8756-6DD37B5B7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05150"/>
            <a:ext cx="192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B3CC"/>
                </a:solidFill>
              </a:defRPr>
            </a:pPr>
            <a:r>
              <a:rPr sz="1350" b="0">
                <a:solidFill>
                  <a:srgbClr val="A6B3CC"/>
                </a:solidFill>
              </a:rPr>
              <a:t>Strict structured</a:t>
            </a:r>
          </a:p>
          <a:p xmlns:a="http://schemas.openxmlformats.org/drawingml/2006/main">
            <a:pPr algn="l">
              <a:defRPr sz="1350" b="0">
                <a:solidFill>
                  <a:srgbClr val="A6B3CC"/>
                </a:solidFill>
              </a:defRPr>
            </a:pPr>
            <a:r>
              <a:rPr sz="1350" b="0">
                <a:solidFill>
                  <a:srgbClr val="A6B3CC"/>
                </a:solidFill>
              </a:rPr>
              <a:t>responses</a:t>
            </a:r>
          </a:p>
        </p:txBody>
      </p:sp>
      <p:sp>
        <p:nvSpPr>
          <p:cNvPr id="16" name="trust-band">
            <a:extLst xmlns:a="http://schemas.openxmlformats.org/drawingml/2006/main">
              <a:ext uri="{FF2B5EF4-FFF2-40B4-BE49-F238E27FC236}">
                <a16:creationId xmlns:a16="http://schemas.microsoft.com/office/drawing/2014/main" id="{15EB5DF4-AB03-4398-8800-4BEB5C20B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97345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0B182A"/>
          </a:solidFill>
          <a:ln xmlns:a="http://schemas.openxmlformats.org/drawingml/2006/main" w="9525">
            <a:solidFill>
              <a:srgbClr val="233653"/>
            </a:solidFill>
            <a:prstDash val="solid"/>
          </a:ln>
        </p:spPr>
      </p:sp>
      <p:sp>
        <p:nvSpPr>
          <p:cNvPr id="17" name="safe-label-0">
            <a:extLst xmlns:a="http://schemas.openxmlformats.org/drawingml/2006/main">
              <a:ext uri="{FF2B5EF4-FFF2-40B4-BE49-F238E27FC236}">
                <a16:creationId xmlns:a16="http://schemas.microsoft.com/office/drawing/2014/main" id="{ACEC4710-41DA-4387-96CB-7B59FC44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958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4E5A4"/>
                </a:solidFill>
              </a:defRPr>
            </a:pPr>
            <a:r>
              <a:rPr sz="1200" b="1">
                <a:solidFill>
                  <a:srgbClr val="54E5A4"/>
                </a:solidFill>
              </a:rPr>
              <a:t>SERVER-SIDE KEYS</a:t>
            </a:r>
          </a:p>
        </p:txBody>
      </p:sp>
      <p:sp>
        <p:nvSpPr>
          <p:cNvPr id="18" name="safe-body-0">
            <a:extLst xmlns:a="http://schemas.openxmlformats.org/drawingml/2006/main">
              <a:ext uri="{FF2B5EF4-FFF2-40B4-BE49-F238E27FC236}">
                <a16:creationId xmlns:a16="http://schemas.microsoft.com/office/drawing/2014/main" id="{790B8F96-3669-42B4-980F-3B79DBAD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482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6B3CC"/>
                </a:solidFill>
              </a:defRPr>
            </a:pPr>
            <a:r>
              <a:rPr sz="1275" b="0">
                <a:solidFill>
                  <a:srgbClr val="A6B3CC"/>
                </a:solidFill>
              </a:rPr>
              <a:t>Secrets never enter Angular</a:t>
            </a:r>
          </a:p>
        </p:txBody>
      </p:sp>
      <p:sp>
        <p:nvSpPr>
          <p:cNvPr id="19" name="safe-label-1">
            <a:extLst xmlns:a="http://schemas.openxmlformats.org/drawingml/2006/main">
              <a:ext uri="{FF2B5EF4-FFF2-40B4-BE49-F238E27FC236}">
                <a16:creationId xmlns:a16="http://schemas.microsoft.com/office/drawing/2014/main" id="{C9320CA1-A11D-4B9F-92B9-9674FDC7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6958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4E5A4"/>
                </a:solidFill>
              </a:defRPr>
            </a:pPr>
            <a:r>
              <a:rPr sz="1200" b="1">
                <a:solidFill>
                  <a:srgbClr val="54E5A4"/>
                </a:solidFill>
              </a:rPr>
              <a:t>ZOD VALIDATION</a:t>
            </a:r>
          </a:p>
        </p:txBody>
      </p:sp>
      <p:sp>
        <p:nvSpPr>
          <p:cNvPr id="20" name="safe-body-1">
            <a:extLst xmlns:a="http://schemas.openxmlformats.org/drawingml/2006/main">
              <a:ext uri="{FF2B5EF4-FFF2-40B4-BE49-F238E27FC236}">
                <a16:creationId xmlns:a16="http://schemas.microsoft.com/office/drawing/2014/main" id="{8D7880EE-2C28-48B0-A8D9-49B9160D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0482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6B3CC"/>
                </a:solidFill>
              </a:defRPr>
            </a:pPr>
            <a:r>
              <a:rPr sz="1275" b="0">
                <a:solidFill>
                  <a:srgbClr val="A6B3CC"/>
                </a:solidFill>
              </a:rPr>
              <a:t>Every model response is checked</a:t>
            </a:r>
          </a:p>
        </p:txBody>
      </p:sp>
      <p:sp>
        <p:nvSpPr>
          <p:cNvPr id="21" name="safe-label-2">
            <a:extLst xmlns:a="http://schemas.openxmlformats.org/drawingml/2006/main">
              <a:ext uri="{FF2B5EF4-FFF2-40B4-BE49-F238E27FC236}">
                <a16:creationId xmlns:a16="http://schemas.microsoft.com/office/drawing/2014/main" id="{4AECE994-2F93-43DA-9AAD-FF979FA0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6958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4E5A4"/>
                </a:solidFill>
              </a:defRPr>
            </a:pPr>
            <a:r>
              <a:rPr sz="1200" b="1">
                <a:solidFill>
                  <a:srgbClr val="54E5A4"/>
                </a:solidFill>
              </a:rPr>
              <a:t>NO CODE EXECUTION</a:t>
            </a:r>
          </a:p>
        </p:txBody>
      </p:sp>
      <p:sp>
        <p:nvSpPr>
          <p:cNvPr id="22" name="safe-body-2">
            <a:extLst xmlns:a="http://schemas.openxmlformats.org/drawingml/2006/main">
              <a:ext uri="{FF2B5EF4-FFF2-40B4-BE49-F238E27FC236}">
                <a16:creationId xmlns:a16="http://schemas.microsoft.com/office/drawing/2014/main" id="{FD378C39-9729-4CFE-954A-D8B90D0C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0482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6B3CC"/>
                </a:solidFill>
              </a:defRPr>
            </a:pPr>
            <a:r>
              <a:rPr sz="1275" b="0">
                <a:solidFill>
                  <a:srgbClr val="A6B3CC"/>
                </a:solidFill>
              </a:rPr>
              <a:t>Archives are generated, not run</a:t>
            </a:r>
          </a:p>
        </p:txBody>
      </p:sp>
    </p:spTree>
    <p:extLst>
      <p:ext uri="{BB962C8B-B14F-4D97-AF65-F5344CB8AC3E}">
        <p14:creationId xmlns:p14="http://schemas.microsoft.com/office/powerpoint/2010/main" val="20533669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B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fa734c5e3a4d93"/>
          <a:stretch xmlns:a="http://schemas.openxmlformats.org/drawingml/2006/main"/>
        </p:blipFill>
        <p:spPr>
          <a:xfrm xmlns:a="http://schemas.openxmlformats.org/drawingml/2006/main">
            <a:off x="685800" y="647700"/>
            <a:ext cx="1047750" cy="1047750"/>
          </a:xfrm>
          <a:prstGeom xmlns:a="http://schemas.openxmlformats.org/drawingml/2006/main" prst="rect">
            <a:avLst/>
          </a:prstGeom>
        </p:spPr>
      </p:pic>
      <p:sp>
        <p:nvSpPr>
          <p:cNvPr id="2" name="close-eyebrow">
            <a:extLst xmlns:a="http://schemas.openxmlformats.org/drawingml/2006/main">
              <a:ext uri="{FF2B5EF4-FFF2-40B4-BE49-F238E27FC236}">
                <a16:creationId xmlns:a16="http://schemas.microsoft.com/office/drawing/2014/main" id="{428D9E5A-09BA-4485-B897-774B9EF0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9144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9E4F6"/>
                </a:solidFill>
              </a:defRPr>
            </a:pPr>
            <a:r>
              <a:rPr sz="1650" b="1">
                <a:solidFill>
                  <a:srgbClr val="59E4F6"/>
                </a:solidFill>
              </a:rPr>
              <a:t>DEVLOOP AI</a:t>
            </a:r>
          </a:p>
        </p:txBody>
      </p:sp>
      <p:sp>
        <p:nvSpPr>
          <p:cNvPr id="3" name="close-title">
            <a:extLst xmlns:a="http://schemas.openxmlformats.org/drawingml/2006/main">
              <a:ext uri="{FF2B5EF4-FFF2-40B4-BE49-F238E27FC236}">
                <a16:creationId xmlns:a16="http://schemas.microsoft.com/office/drawing/2014/main" id="{CE03A783-2C5B-4C9A-B192-1FFF04D3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8382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EEF4FF"/>
                </a:solidFill>
              </a:defRPr>
            </a:pPr>
            <a:r>
              <a:rPr sz="4950" b="1">
                <a:solidFill>
                  <a:srgbClr val="EEF4FF"/>
                </a:solidFill>
              </a:rPr>
              <a:t>Better first drafts come</a:t>
            </a:r>
          </a:p>
          <a:p xmlns:a="http://schemas.openxmlformats.org/drawingml/2006/main">
            <a:pPr algn="l">
              <a:defRPr sz="4950" b="1">
                <a:solidFill>
                  <a:srgbClr val="EEF4FF"/>
                </a:solidFill>
              </a:defRPr>
            </a:pPr>
            <a:r>
              <a:rPr sz="4950" b="1">
                <a:solidFill>
                  <a:srgbClr val="EEF4FF"/>
                </a:solidFill>
              </a:rPr>
              <a:t>from visible engineering.</a:t>
            </a:r>
          </a:p>
        </p:txBody>
      </p:sp>
      <p:sp>
        <p:nvSpPr>
          <p:cNvPr id="4" name="close-subtitle">
            <a:extLst xmlns:a="http://schemas.openxmlformats.org/drawingml/2006/main">
              <a:ext uri="{FF2B5EF4-FFF2-40B4-BE49-F238E27FC236}">
                <a16:creationId xmlns:a16="http://schemas.microsoft.com/office/drawing/2014/main" id="{1F56D6E1-CAD3-4E36-BEDC-7C34D93CC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B8AFB"/>
                </a:solidFill>
              </a:defRPr>
            </a:pPr>
            <a:r>
              <a:rPr sz="2250" b="1">
                <a:solidFill>
                  <a:srgbClr val="9B8AFB"/>
                </a:solidFill>
              </a:rPr>
              <a:t>The first answer is just the beginning.</a:t>
            </a:r>
          </a:p>
        </p:txBody>
      </p:sp>
      <p:cxnSp>
        <p:nvCxnSpPr>
          <p:cNvPr id="14" name="close-rule"/>
          <p:cNvCxnSpPr/>
          <p:nvPr/>
        </p:nvCxnSpPr>
        <p:spPr>
          <a:xfrm xmlns:a="http://schemas.openxmlformats.org/drawingml/2006/main">
            <a:off x="685800" y="4991100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33653"/>
            </a:solidFill>
            <a:prstDash val="solid"/>
          </a:ln>
        </p:spPr>
      </p:cxnSp>
      <p:sp>
        <p:nvSpPr>
          <p:cNvPr id="6" name="prototype-label">
            <a:extLst xmlns:a="http://schemas.openxmlformats.org/drawingml/2006/main">
              <a:ext uri="{FF2B5EF4-FFF2-40B4-BE49-F238E27FC236}">
                <a16:creationId xmlns:a16="http://schemas.microsoft.com/office/drawing/2014/main" id="{FDBCE891-2117-4AB6-8527-1E930E8B4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4E5A4"/>
                </a:solidFill>
              </a:defRPr>
            </a:pPr>
            <a:r>
              <a:rPr sz="1125" b="1">
                <a:solidFill>
                  <a:srgbClr val="54E5A4"/>
                </a:solidFill>
              </a:rPr>
              <a:t>LIVE PROTOTYPE</a:t>
            </a:r>
          </a:p>
        </p:txBody>
      </p:sp>
      <p:sp>
        <p:nvSpPr>
          <p:cNvPr id="7" name="prototype-url">
            <a:extLst xmlns:a="http://schemas.openxmlformats.org/drawingml/2006/main">
              <a:ext uri="{FF2B5EF4-FFF2-40B4-BE49-F238E27FC236}">
                <a16:creationId xmlns:a16="http://schemas.microsoft.com/office/drawing/2014/main" id="{C6BCAA38-8EC7-44A4-8947-EA440480C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EF4FF"/>
                </a:solidFill>
              </a:defRPr>
            </a:pPr>
            <a:r>
              <a:rPr sz="1650" b="1">
                <a:solidFill>
                  <a:srgbClr val="EEF4FF"/>
                </a:solidFill>
              </a:rPr>
              <a:t>devloop-ai.onrender.com</a:t>
            </a:r>
          </a:p>
        </p:txBody>
      </p:sp>
      <p:sp>
        <p:nvSpPr>
          <p:cNvPr id="8" name="repo-label">
            <a:extLst xmlns:a="http://schemas.openxmlformats.org/drawingml/2006/main">
              <a:ext uri="{FF2B5EF4-FFF2-40B4-BE49-F238E27FC236}">
                <a16:creationId xmlns:a16="http://schemas.microsoft.com/office/drawing/2014/main" id="{514F8B24-CE6E-42D9-A955-24FC693E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34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4E5A4"/>
                </a:solidFill>
              </a:defRPr>
            </a:pPr>
            <a:r>
              <a:rPr sz="1125" b="1">
                <a:solidFill>
                  <a:srgbClr val="54E5A4"/>
                </a:solidFill>
              </a:rPr>
              <a:t>PUBLIC REPOSITORY</a:t>
            </a:r>
          </a:p>
        </p:txBody>
      </p:sp>
      <p:sp>
        <p:nvSpPr>
          <p:cNvPr id="9" name="repo-url">
            <a:extLst xmlns:a="http://schemas.openxmlformats.org/drawingml/2006/main">
              <a:ext uri="{FF2B5EF4-FFF2-40B4-BE49-F238E27FC236}">
                <a16:creationId xmlns:a16="http://schemas.microsoft.com/office/drawing/2014/main" id="{D6E64A2B-7953-4EBE-A556-118C86E73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6388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EF4FF"/>
                </a:solidFill>
              </a:defRPr>
            </a:pPr>
            <a:r>
              <a:rPr sz="1650" b="1">
                <a:solidFill>
                  <a:srgbClr val="EEF4FF"/>
                </a:solidFill>
              </a:rPr>
              <a:t>github.com/AakashShah14/devloop-ai</a:t>
            </a:r>
          </a:p>
        </p:txBody>
      </p:sp>
    </p:spTree>
    <p:extLst>
      <p:ext uri="{BB962C8B-B14F-4D97-AF65-F5344CB8AC3E}">
        <p14:creationId xmlns:p14="http://schemas.microsoft.com/office/powerpoint/2010/main" val="8616660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2026-07-19T06:51:42.7550000Z</dcterms:created>
  <dcterms:modified xsi:type="dcterms:W3CDTF">2026-07-19T06:51:42.7550000Z</dcterms:modified>
</coreProperties>
</file>